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6537960" y="4160520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37960" y="4361688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537960" y="4562856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37960" y="4764024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37960" y="4965192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5166360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37960" y="5367528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37960" y="5568696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37960" y="5769864"/>
            <a:ext cx="5120640" cy="411480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37960" y="5971031"/>
            <a:ext cx="5120640" cy="411481"/>
          </a:xfrm>
          <a:prstGeom prst="line">
            <a:avLst/>
          </a:prstGeom>
          <a:ln w="1270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9224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6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7532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869680" y="3794760"/>
            <a:ext cx="182879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64040" y="3794760"/>
            <a:ext cx="182879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5840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52759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47120" y="3794760"/>
            <a:ext cx="182880" cy="2560320"/>
          </a:xfrm>
          <a:prstGeom prst="line">
            <a:avLst/>
          </a:prstGeom>
          <a:ln w="10160">
            <a:solidFill>
              <a:srgbClr val="315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766560" y="4572000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24928" y="4773168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83296" y="4572000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741664" y="4773168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00032" y="4572000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58400" y="4773168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16768" y="4572000"/>
            <a:ext cx="82296" cy="8229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8368" y="548640"/>
            <a:ext cx="2331720" cy="310896"/>
          </a:xfrm>
          <a:prstGeom prst="roundRect">
            <a:avLst/>
          </a:prstGeom>
          <a:solidFill>
            <a:srgbClr val="305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48640"/>
            <a:ext cx="23317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D7E5D7"/>
                </a:solidFill>
                <a:latin typeface="Aptos"/>
              </a:rPr>
              <a:t>DATA ANALYTICS  |  MAJOR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1417320"/>
            <a:ext cx="6675120" cy="1508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Seasonal Agriculture</a:t>
            </a:r>
            <a:br/>
            <a:r>
              <a:t>Performance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3090672"/>
            <a:ext cx="612648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DBE7DC"/>
                </a:solidFill>
                <a:latin typeface="Aptos"/>
              </a:rPr>
              <a:t>Understanding seasonal patterns in yield, profitability,</a:t>
            </a:r>
            <a:br/>
            <a:r>
              <a:t>resources and agricultural conditions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4736592"/>
            <a:ext cx="292608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C"/>
                </a:solidFill>
                <a:latin typeface="Aptos"/>
              </a:rPr>
              <a:t>Ranadeep 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5102352"/>
            <a:ext cx="53035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D2E1D3"/>
                </a:solidFill>
                <a:latin typeface="Aptos"/>
              </a:rPr>
              <a:t>AICTE STU ID: STU6a5f732ab94b61784640298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413248"/>
            <a:ext cx="42062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D2E1D3"/>
                </a:solidFill>
                <a:latin typeface="Aptos"/>
              </a:rPr>
              <a:t>Future Institute Of Technology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656" y="5897880"/>
            <a:ext cx="4809744" cy="0"/>
          </a:xfrm>
          <a:prstGeom prst="line">
            <a:avLst/>
          </a:prstGeom>
          <a:ln w="17780">
            <a:solidFill>
              <a:srgbClr val="608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6656" y="6016752"/>
            <a:ext cx="67665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0D5C3"/>
                </a:solidFill>
                <a:latin typeface="Aptos"/>
              </a:rPr>
              <a:t>4,000 farm records  •  28 variables  •  8 states  •  8 crops  •  3 seasons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427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01  •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508760"/>
            <a:ext cx="1042416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1B2721"/>
                </a:solidFill>
                <a:latin typeface="Aptos"/>
              </a:rPr>
              <a:t>The raw dataset contains the measurements — the seasonal story is not immediately visible.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322576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B7453"/>
                </a:solidFill>
                <a:latin typeface="Aptos"/>
              </a:rPr>
              <a:t>QUESTIONS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587752"/>
            <a:ext cx="960120" cy="0"/>
          </a:xfrm>
          <a:prstGeom prst="line">
            <a:avLst/>
          </a:prstGeom>
          <a:ln w="1905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251960" y="2331720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23317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322576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B7453"/>
                </a:solidFill>
                <a:latin typeface="Aptos"/>
              </a:rPr>
              <a:t>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587752"/>
            <a:ext cx="960120" cy="0"/>
          </a:xfrm>
          <a:prstGeom prst="line">
            <a:avLst/>
          </a:prstGeom>
          <a:ln w="1905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818120" y="2331720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18120" y="23317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322576"/>
            <a:ext cx="18288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B7453"/>
                </a:solidFill>
                <a:latin typeface="Aptos"/>
              </a:rPr>
              <a:t>INSIGHTS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072384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2999232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721"/>
                </a:solidFill>
                <a:latin typeface="Aptos"/>
              </a:rPr>
              <a:t>Which season performs best in yield and profitability?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3657600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721"/>
                </a:solidFill>
                <a:latin typeface="Aptos"/>
              </a:rPr>
              <a:t>How do rainfall, moisture and pest risk vary?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38912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315968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721"/>
                </a:solidFill>
                <a:latin typeface="Aptos"/>
              </a:rPr>
              <a:t>How does irrigation relate to yield and water efficiency?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047488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974336"/>
            <a:ext cx="2624328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B2721"/>
                </a:solidFill>
                <a:latin typeface="Aptos"/>
              </a:rPr>
              <a:t>Which crops perform consistently across seasons?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2926080"/>
            <a:ext cx="3154680" cy="45720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19288" y="2926080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Performance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584448"/>
            <a:ext cx="3154680" cy="45720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19288" y="3584448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Condition patterns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242816"/>
            <a:ext cx="3154680" cy="45720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19288" y="4242816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Resource relationships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97880"/>
            <a:ext cx="103327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87068"/>
                </a:solidFill>
                <a:latin typeface="Aptos"/>
              </a:rPr>
              <a:t>Goal: compare seasons and identify meaningful patterns, trends, relationships and variations.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02  •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Dataset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572768"/>
            <a:ext cx="2240280" cy="12984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37360"/>
            <a:ext cx="19110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84131"/>
                </a:solidFill>
                <a:latin typeface="Aptos"/>
              </a:rP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22576"/>
            <a:ext cx="19110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FARM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572768"/>
            <a:ext cx="2240280" cy="12984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55264" y="1737360"/>
            <a:ext cx="19110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4B7453"/>
                </a:solidFill>
                <a:latin typeface="Aptos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2322576"/>
            <a:ext cx="19110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544" y="1572768"/>
            <a:ext cx="2240280" cy="12984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0136" y="1737360"/>
            <a:ext cx="19110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9D774C"/>
                </a:solidFill>
                <a:latin typeface="Apto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322576"/>
            <a:ext cx="19110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1572768"/>
            <a:ext cx="2240280" cy="12984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737360"/>
            <a:ext cx="19110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B56A4B"/>
                </a:solidFill>
                <a:latin typeface="Aptos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322576"/>
            <a:ext cx="19110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CROPS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05288" y="1572768"/>
            <a:ext cx="1280160" cy="1298448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69880" y="1737360"/>
            <a:ext cx="95097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84131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2322576"/>
            <a:ext cx="95097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SEASONS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3756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84131"/>
                </a:solidFill>
                <a:latin typeface="Aptos"/>
              </a:rPr>
              <a:t>What the records cover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22191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0392" y="3941063"/>
            <a:ext cx="164592" cy="164592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3822191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Environment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22191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07992" y="3941063"/>
            <a:ext cx="164592" cy="164592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3822191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Inputs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822191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65592" y="3941063"/>
            <a:ext cx="164592" cy="164592"/>
          </a:xfrm>
          <a:prstGeom prst="ellipse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3822191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Irrigation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434840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50392" y="4553712"/>
            <a:ext cx="164592" cy="164592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4434840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Yield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434840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507992" y="4553712"/>
            <a:ext cx="164592" cy="164592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600" y="4434840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Production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4434840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165592" y="4553712"/>
            <a:ext cx="164592" cy="164592"/>
          </a:xfrm>
          <a:prstGeom prst="ellipse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4434840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Revenue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047488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0392" y="5166359"/>
            <a:ext cx="164592" cy="164592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43000" y="5047488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Profit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5047488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07992" y="5166359"/>
            <a:ext cx="164592" cy="164592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5047488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Water Use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5047488"/>
            <a:ext cx="3246120" cy="438912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165592" y="5166359"/>
            <a:ext cx="164592" cy="164592"/>
          </a:xfrm>
          <a:prstGeom prst="ellipse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5047488"/>
            <a:ext cx="2606040" cy="4389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Disease / Pest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5897880"/>
            <a:ext cx="621792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1">
                <a:solidFill>
                  <a:srgbClr val="687068"/>
                </a:solidFill>
                <a:latin typeface="Aptos"/>
              </a:rPr>
              <a:t>A focused exploratory analysis — not a generic dataset summary.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03  •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Analytical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02920" y="1965960"/>
            <a:ext cx="566928" cy="566928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9848" y="2249424"/>
            <a:ext cx="941832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167128" y="1965960"/>
            <a:ext cx="566928" cy="566928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1095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INSPECT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34056" y="2249424"/>
            <a:ext cx="941831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31336" y="1965960"/>
            <a:ext cx="566928" cy="566928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31336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CLEAN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98264" y="2249424"/>
            <a:ext cx="941832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95544" y="1965960"/>
            <a:ext cx="566928" cy="566928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5544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GROUP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62472" y="2249424"/>
            <a:ext cx="941832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59752" y="1965960"/>
            <a:ext cx="566928" cy="566928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9752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COMPARE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26679" y="2249424"/>
            <a:ext cx="941833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823960" y="1965960"/>
            <a:ext cx="566928" cy="566928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3960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VISUALIZE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90888" y="2249424"/>
            <a:ext cx="941832" cy="0"/>
          </a:xfrm>
          <a:prstGeom prst="line">
            <a:avLst/>
          </a:prstGeom>
          <a:ln w="2032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488168" y="1965960"/>
            <a:ext cx="566928" cy="566928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88168" y="1965960"/>
            <a:ext cx="566928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C"/>
                </a:solidFill>
                <a:latin typeface="Aptos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32136" y="2660904"/>
            <a:ext cx="10789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INTERPRET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383280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84131"/>
                </a:solidFill>
                <a:latin typeface="Aptos"/>
              </a:rPr>
              <a:t>Dataset inspection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61488" y="3383280"/>
            <a:ext cx="7863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Structure and variable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77056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84131"/>
                </a:solidFill>
                <a:latin typeface="Aptos"/>
              </a:rPr>
              <a:t>Data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1488" y="3877056"/>
            <a:ext cx="7863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Missing-value analysis + duplicate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370832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84131"/>
                </a:solidFill>
                <a:latin typeface="Aptos"/>
              </a:rPr>
              <a:t>Cleaning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370832"/>
            <a:ext cx="7863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Median imputation for relevant numeric columns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864608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84131"/>
                </a:solidFill>
                <a:latin typeface="Aptos"/>
              </a:rPr>
              <a:t>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1488" y="4864608"/>
            <a:ext cx="7863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Seasonal / crop / irrigation grouping + correlation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358384"/>
            <a:ext cx="1874519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84131"/>
                </a:solidFill>
                <a:latin typeface="Aptos"/>
              </a:rPr>
              <a:t>Communication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1488" y="5358384"/>
            <a:ext cx="786384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Charts for comparison and interpretation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25312"/>
            <a:ext cx="98755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687068"/>
                </a:solidFill>
                <a:latin typeface="Aptos"/>
              </a:rPr>
              <a:t>Yield and profit are strongly skewed, so median values are used for several comparisons.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04  •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600200"/>
            <a:ext cx="2468880" cy="123444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21396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184131"/>
                </a:solidFill>
                <a:latin typeface="Aptos"/>
              </a:rP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0008"/>
            <a:ext cx="21396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ROWS CHECKED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600200"/>
            <a:ext cx="2468880" cy="123444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764792"/>
            <a:ext cx="21396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4B7453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350008"/>
            <a:ext cx="21396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DUPLICATE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2468880" cy="123444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53912" y="1764792"/>
            <a:ext cx="21396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9D774C"/>
                </a:solidFill>
                <a:latin typeface="Aptos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50008"/>
            <a:ext cx="21396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MISSING RAINFALL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600200"/>
            <a:ext cx="2468880" cy="1234440"/>
          </a:xfrm>
          <a:prstGeom prst="round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05672" y="1764792"/>
            <a:ext cx="2139696" cy="475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B56A4B"/>
                </a:solidFill>
                <a:latin typeface="Aptos"/>
              </a:rPr>
              <a:t>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350008"/>
            <a:ext cx="213969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OTHER NUMERIC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2633472"/>
            <a:ext cx="2139696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687068"/>
                </a:solidFill>
                <a:latin typeface="Aptos"/>
              </a:rPr>
              <a:t>40 soil moisture + 32 yield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18688"/>
            <a:ext cx="5486400" cy="24871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383280"/>
            <a:ext cx="508406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Missing-value breakdown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794760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Rainfall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3822192"/>
            <a:ext cx="320040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148840" y="3822192"/>
            <a:ext cx="3200400" cy="201168"/>
          </a:xfrm>
          <a:prstGeom prst="roundRect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8112" y="3794760"/>
            <a:ext cx="411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343400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Soil moisture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4370832"/>
            <a:ext cx="320040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148840" y="4370832"/>
            <a:ext cx="2667000" cy="201168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68112" y="4343400"/>
            <a:ext cx="411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892040"/>
            <a:ext cx="12344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Yield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4919472"/>
            <a:ext cx="320040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148840" y="4919472"/>
            <a:ext cx="2133599" cy="201168"/>
          </a:xfrm>
          <a:prstGeom prst="roundRect">
            <a:avLst/>
          </a:prstGeom>
          <a:solidFill>
            <a:srgbClr val="B5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68112" y="4892040"/>
            <a:ext cx="411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32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3218688"/>
            <a:ext cx="5102352" cy="2487168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48272" y="3538728"/>
            <a:ext cx="2011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C5DAC8"/>
                </a:solidFill>
                <a:latin typeface="Aptos"/>
              </a:rPr>
              <a:t>CLEANING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877056"/>
            <a:ext cx="40233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FFFFFC"/>
                </a:solidFill>
                <a:latin typeface="Aptos"/>
              </a:rPr>
              <a:t>Median imputation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352544"/>
            <a:ext cx="402336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E0ECE1"/>
                </a:solidFill>
                <a:latin typeface="Aptos"/>
              </a:rPr>
              <a:t>used for the affected numeric columns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48272" y="4919472"/>
            <a:ext cx="4407408" cy="0"/>
          </a:xfrm>
          <a:prstGeom prst="line">
            <a:avLst/>
          </a:prstGeom>
          <a:ln w="12700">
            <a:solidFill>
              <a:srgbClr val="527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748272" y="5074920"/>
            <a:ext cx="42062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C"/>
                </a:solidFill>
                <a:latin typeface="Aptos"/>
              </a:rPr>
              <a:t>All 4,000 records retained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05  •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Seasonal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81328"/>
            <a:ext cx="1115568" cy="310896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81328"/>
            <a:ext cx="1115568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HERO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72184"/>
            <a:ext cx="768096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84131"/>
                </a:solidFill>
                <a:latin typeface="Aptos"/>
              </a:rPr>
              <a:t>Kharif leads across the main performance measures.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29968"/>
            <a:ext cx="3383280" cy="1335024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12848"/>
            <a:ext cx="292608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C"/>
                </a:solidFill>
                <a:latin typeface="Aptos"/>
              </a:rPr>
              <a:t>1.94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706624"/>
            <a:ext cx="28346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D0E2D2"/>
                </a:solidFill>
                <a:latin typeface="Aptos"/>
              </a:rPr>
              <a:t>T/HA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17520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D0E2D2"/>
                </a:solidFill>
                <a:latin typeface="Aptos"/>
              </a:rPr>
              <a:t>KHARIF • MEDIAN YIELD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029968"/>
            <a:ext cx="3383280" cy="1335024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5" y="2212848"/>
            <a:ext cx="292608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84131"/>
                </a:solidFill>
                <a:latin typeface="Aptos"/>
              </a:rPr>
              <a:t>₹0.39L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706624"/>
            <a:ext cx="28346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3017520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687068"/>
                </a:solidFill>
                <a:latin typeface="Aptos"/>
              </a:rPr>
              <a:t>KHARIF • MEDIAN PROFIT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029968"/>
            <a:ext cx="3383280" cy="1335024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2212848"/>
            <a:ext cx="292608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84131"/>
                </a:solidFill>
                <a:latin typeface="Aptos"/>
              </a:rPr>
              <a:t>57.8%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706624"/>
            <a:ext cx="283464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687068"/>
                </a:solidFill>
                <a:latin typeface="Aptos"/>
              </a:rPr>
              <a:t>FARMS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3017520"/>
            <a:ext cx="28346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687068"/>
                </a:solidFill>
                <a:latin typeface="Aptos"/>
              </a:rPr>
              <a:t>KHARIF • POSITIVE PROFIT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6400800" cy="233172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867911"/>
            <a:ext cx="599846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Season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25196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Kharif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4279392"/>
            <a:ext cx="420624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828800" y="4279392"/>
            <a:ext cx="4080052" cy="201168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4251960"/>
            <a:ext cx="6858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1.94 t/ha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745736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Rabi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773168"/>
            <a:ext cx="420624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828800" y="4773168"/>
            <a:ext cx="3512210" cy="201168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6858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1.67 t/ha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239512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Zaid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5266944"/>
            <a:ext cx="420624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828800" y="5266944"/>
            <a:ext cx="3070555" cy="201168"/>
          </a:xfrm>
          <a:prstGeom prst="roundRect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5239512"/>
            <a:ext cx="6858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1.46 t/ha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3703320"/>
            <a:ext cx="4187952" cy="233172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26096" y="3986784"/>
            <a:ext cx="2011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MEDIAN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4297680"/>
            <a:ext cx="13716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84131"/>
                </a:solidFill>
                <a:latin typeface="Aptos"/>
              </a:rPr>
              <a:t>₹0.39L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7968" y="4315968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687068"/>
                </a:solidFill>
                <a:latin typeface="Aptos"/>
              </a:rPr>
              <a:t>Kharif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4809744"/>
            <a:ext cx="13716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2721"/>
                </a:solidFill>
                <a:latin typeface="Aptos"/>
              </a:rPr>
              <a:t>−₹0.03L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7968" y="4828032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687068"/>
                </a:solidFill>
                <a:latin typeface="Aptos"/>
              </a:rPr>
              <a:t>Rabi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5303520"/>
            <a:ext cx="13716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974B42"/>
                </a:solidFill>
                <a:latin typeface="Aptos"/>
              </a:rPr>
              <a:t>−₹0.62L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87968" y="5321808"/>
            <a:ext cx="914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687068"/>
                </a:solidFill>
                <a:latin typeface="Aptos"/>
              </a:rPr>
              <a:t>Zaid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5925312"/>
            <a:ext cx="4187952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87068"/>
                </a:solidFill>
                <a:latin typeface="Aptos"/>
              </a:rPr>
              <a:t>Kharif 57.8%  •  Rabi 48.9%  •  Zaid 35.5% positive-profit farms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06  • 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Seasonal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508760"/>
            <a:ext cx="5486400" cy="205740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73351"/>
            <a:ext cx="508406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Average rainfall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Kharif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057400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2057400"/>
            <a:ext cx="3337560" cy="182880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2029968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849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6888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Rabi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496312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2496312"/>
            <a:ext cx="1721850" cy="182880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2468880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438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907792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Zaid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935224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828800" y="2935224"/>
            <a:ext cx="1199005" cy="182880"/>
          </a:xfrm>
          <a:prstGeom prst="roundRect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2907792"/>
            <a:ext cx="5029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305 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508760"/>
            <a:ext cx="5102352" cy="205740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7688" y="1673351"/>
            <a:ext cx="4700016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Average water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29968"/>
            <a:ext cx="868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Kharif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2057400"/>
            <a:ext cx="315468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07808" y="2057400"/>
            <a:ext cx="3096844" cy="182880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27080" y="2029968"/>
            <a:ext cx="38404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5.89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468880"/>
            <a:ext cx="868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Rabi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07808" y="2496312"/>
            <a:ext cx="315468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607808" y="2496312"/>
            <a:ext cx="2728798" cy="182880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27080" y="2468880"/>
            <a:ext cx="38404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5.19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907792"/>
            <a:ext cx="8686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Zaid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07808" y="2935224"/>
            <a:ext cx="315468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607808" y="2935224"/>
            <a:ext cx="2318689" cy="182880"/>
          </a:xfrm>
          <a:prstGeom prst="roundRect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27080" y="2907792"/>
            <a:ext cx="38404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4.41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005072"/>
            <a:ext cx="11430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SEASONAL READ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407408"/>
            <a:ext cx="10863072" cy="1097280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0120" y="4590288"/>
            <a:ext cx="9601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C"/>
                </a:solidFill>
                <a:latin typeface="Aptos"/>
              </a:rPr>
              <a:t>Kharif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4608576"/>
            <a:ext cx="20574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DCE9DE"/>
                </a:solidFill>
                <a:latin typeface="Aptos"/>
              </a:rPr>
              <a:t>wetter • more humid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77639" y="4681728"/>
            <a:ext cx="338329" cy="0"/>
          </a:xfrm>
          <a:prstGeom prst="line">
            <a:avLst/>
          </a:prstGeom>
          <a:ln w="12700">
            <a:solidFill>
              <a:srgbClr val="5B7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462272" y="4590288"/>
            <a:ext cx="731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C"/>
                </a:solidFill>
                <a:latin typeface="Aptos"/>
              </a:rPr>
              <a:t>Rabi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4608576"/>
            <a:ext cx="1874519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DCE9DE"/>
                </a:solidFill>
                <a:latin typeface="Aptos"/>
              </a:rPr>
              <a:t>mid-range conditions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06640" y="4681728"/>
            <a:ext cx="338328" cy="0"/>
          </a:xfrm>
          <a:prstGeom prst="line">
            <a:avLst/>
          </a:prstGeom>
          <a:ln w="12700">
            <a:solidFill>
              <a:srgbClr val="5B7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09560" y="4590288"/>
            <a:ext cx="731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C"/>
                </a:solidFill>
                <a:latin typeface="Aptos"/>
              </a:rPr>
              <a:t>Zaid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4608576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DCE9DE"/>
                </a:solidFill>
                <a:latin typeface="Aptos"/>
              </a:rPr>
              <a:t>hotter • drier • less water-efficient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925312"/>
            <a:ext cx="7680960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687068"/>
                </a:solidFill>
                <a:latin typeface="Aptos"/>
              </a:rPr>
              <a:t>These patterns coincide in the dataset; they do not establish causation.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07  • 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Irrigation &amp; Water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481328"/>
            <a:ext cx="411480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84131"/>
                </a:solidFill>
                <a:latin typeface="Aptos"/>
              </a:rPr>
              <a:t>Median yield by irrigation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Drip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1" y="2066544"/>
            <a:ext cx="461772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84831" y="2066544"/>
            <a:ext cx="4479188" cy="201168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30568" y="2029968"/>
            <a:ext cx="713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1.94 t/ha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78608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Sprinkler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84831" y="2615184"/>
            <a:ext cx="461772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84831" y="2615184"/>
            <a:ext cx="4132859" cy="201168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2578608"/>
            <a:ext cx="713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1.79 t/ha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27248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Rainfed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3163824"/>
            <a:ext cx="461772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84831" y="3163824"/>
            <a:ext cx="3971239" cy="201168"/>
          </a:xfrm>
          <a:prstGeom prst="roundRect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0568" y="3127248"/>
            <a:ext cx="713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1.72 t/ha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75887"/>
            <a:ext cx="1143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721"/>
                </a:solidFill>
                <a:latin typeface="Aptos"/>
              </a:rPr>
              <a:t>Flood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84831" y="3712463"/>
            <a:ext cx="4617720" cy="201168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84831" y="3712463"/>
            <a:ext cx="3855796" cy="201168"/>
          </a:xfrm>
          <a:prstGeom prst="roundRect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675887"/>
            <a:ext cx="713232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 b="1" i="0">
                <a:solidFill>
                  <a:srgbClr val="184131"/>
                </a:solidFill>
                <a:latin typeface="Aptos"/>
              </a:rPr>
              <a:t>1.67 t/ha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70832"/>
            <a:ext cx="1874519" cy="310896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370832"/>
            <a:ext cx="1874519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84131"/>
                </a:solidFill>
                <a:latin typeface="Aptos"/>
              </a:rPr>
              <a:t>HIGHEST MEDIAN YIELD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54880"/>
            <a:ext cx="292608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84131"/>
                </a:solidFill>
                <a:latin typeface="Aptos"/>
              </a:rPr>
              <a:t>Drip irrigation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30368"/>
            <a:ext cx="5074920" cy="5852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Rainfed shows the highest average water-efficiency value,</a:t>
            </a:r>
            <a:br/>
            <a:r>
              <a:t>but not the highest yield.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1481328"/>
            <a:ext cx="3639312" cy="4334256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1810512"/>
            <a:ext cx="146304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ASSOCIATION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2221992"/>
            <a:ext cx="14630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84131"/>
                </a:solidFill>
                <a:latin typeface="Aptos"/>
              </a:rPr>
              <a:t>Profit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19488" y="2386584"/>
            <a:ext cx="667512" cy="0"/>
          </a:xfrm>
          <a:prstGeom prst="line">
            <a:avLst/>
          </a:prstGeom>
          <a:ln w="2540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387584" y="2194560"/>
            <a:ext cx="7772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184131"/>
                </a:solidFill>
                <a:latin typeface="Aptos"/>
              </a:rPr>
              <a:t>Yield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19488" y="2395728"/>
            <a:ext cx="420624" cy="676656"/>
          </a:xfrm>
          <a:prstGeom prst="line">
            <a:avLst/>
          </a:prstGeom>
          <a:ln w="25400">
            <a:solidFill>
              <a:srgbClr val="8EA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04120" y="2999232"/>
            <a:ext cx="105156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4131"/>
                </a:solidFill>
                <a:latin typeface="Aptos"/>
              </a:rPr>
              <a:t>Water</a:t>
            </a:r>
            <a:br/>
            <a:r>
              <a:t>Efficiency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3858768"/>
            <a:ext cx="2907792" cy="10789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B2721"/>
                </a:solidFill>
                <a:latin typeface="Aptos"/>
              </a:rPr>
              <a:t>Profit is positively associated with yield and water efficiency in this dataset.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212080"/>
            <a:ext cx="26517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687068"/>
                </a:solidFill>
                <a:latin typeface="Aptos"/>
              </a:rPr>
              <a:t>Association ≠ causation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08  • 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Crop-Level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81328"/>
            <a:ext cx="5166360" cy="438912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645920"/>
            <a:ext cx="4764024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Median profit — ranked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Sugarcane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039112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240280" y="2039112"/>
            <a:ext cx="3337560" cy="182880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05272" y="199339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184131"/>
                </a:solidFill>
                <a:latin typeface="Aptos"/>
              </a:rPr>
              <a:t>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23160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Chilli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468880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240280" y="2468880"/>
            <a:ext cx="2606040" cy="182880"/>
          </a:xfrm>
          <a:prstGeom prst="roundRect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05272" y="2423160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1" i="0">
                <a:solidFill>
                  <a:srgbClr val="184131"/>
                </a:solidFill>
                <a:latin typeface="Aptos"/>
              </a:rPr>
              <a:t>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852928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Cotton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2898648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240280" y="2898648"/>
            <a:ext cx="310896" cy="182880"/>
          </a:xfrm>
          <a:prstGeom prst="roundRect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282696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Groundnut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3328415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240280" y="3328415"/>
            <a:ext cx="201168" cy="182880"/>
          </a:xfrm>
          <a:prstGeom prst="roundRect">
            <a:avLst/>
          </a:prstGeom>
          <a:solidFill>
            <a:srgbClr val="9D7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712464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Pulses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3758184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240280" y="3758184"/>
            <a:ext cx="73152" cy="182880"/>
          </a:xfrm>
          <a:prstGeom prst="roundRect">
            <a:avLst/>
          </a:prstGeom>
          <a:solidFill>
            <a:srgbClr val="B7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6112" y="4142231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Maize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187951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40280" y="4187951"/>
            <a:ext cx="228600" cy="182880"/>
          </a:xfrm>
          <a:prstGeom prst="roundRect">
            <a:avLst/>
          </a:prstGeom>
          <a:solidFill>
            <a:srgbClr val="B56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572000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Rice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4617720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240280" y="4617720"/>
            <a:ext cx="384048" cy="182880"/>
          </a:xfrm>
          <a:prstGeom prst="roundRect">
            <a:avLst/>
          </a:prstGeom>
          <a:solidFill>
            <a:srgbClr val="974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5001768"/>
            <a:ext cx="1188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B2721"/>
                </a:solidFill>
                <a:latin typeface="Aptos"/>
              </a:rPr>
              <a:t>Wheat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40280" y="5047488"/>
            <a:ext cx="3337560" cy="182880"/>
          </a:xfrm>
          <a:prstGeom prst="roundRect">
            <a:avLst/>
          </a:prstGeom>
          <a:solidFill>
            <a:srgbClr val="E0E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240280" y="5047488"/>
            <a:ext cx="164592" cy="182880"/>
          </a:xfrm>
          <a:prstGeom prst="roundRect">
            <a:avLst/>
          </a:prstGeom>
          <a:solidFill>
            <a:srgbClr val="807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44768" y="1481328"/>
            <a:ext cx="5404104" cy="438912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45936" y="1645920"/>
            <a:ext cx="500176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84131"/>
                </a:solidFill>
                <a:latin typeface="Aptos"/>
              </a:rPr>
              <a:t>Median yield across seasons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1993392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Chilli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43800" y="2157984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726222" y="2093976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691018" y="2093976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20609" y="2093976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82512" y="2423160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Cotton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543800" y="2587752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655814" y="2523744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20609" y="2523744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585405" y="2523744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2512" y="2852928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Groundnut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43800" y="3017520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726222" y="2953512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655814" y="2953512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620609" y="2953512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3282696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Maize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43800" y="3447288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007858" y="3383279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937449" y="3383279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831836" y="3383279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82512" y="3712464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Pulses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43800" y="3877056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620609" y="3813048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585405" y="3813048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550200" y="3813048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82512" y="4142231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Rice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543800" y="4306823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972653" y="4242816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831836" y="4242816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761427" y="4242816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82512" y="4572000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Sugarcane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543800" y="4736592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648188" y="4672584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120122" y="4672584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9732873" y="4672584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82512" y="5001768"/>
            <a:ext cx="1024128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2721"/>
                </a:solidFill>
                <a:latin typeface="Aptos"/>
              </a:rPr>
              <a:t>Wheat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543800" y="5166360"/>
            <a:ext cx="3520440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7831836" y="5102352"/>
            <a:ext cx="128016" cy="128016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7796631" y="5102352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7726222" y="5102352"/>
            <a:ext cx="128016" cy="128016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543800" y="5504688"/>
            <a:ext cx="68580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84131"/>
                </a:solidFill>
                <a:latin typeface="Aptos"/>
              </a:rPr>
              <a:t>Kharif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5504688"/>
            <a:ext cx="5943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4B7453"/>
                </a:solidFill>
                <a:latin typeface="Aptos"/>
              </a:rPr>
              <a:t>Rabi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89720" y="5504688"/>
            <a:ext cx="59436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8EA388"/>
                </a:solidFill>
                <a:latin typeface="Aptos"/>
              </a:rPr>
              <a:t>Zaid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6053328"/>
            <a:ext cx="98755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1">
                <a:solidFill>
                  <a:srgbClr val="687068"/>
                </a:solidFill>
                <a:latin typeface="Aptos"/>
              </a:rPr>
              <a:t>Sugarcane is the clear high-yield / high-profit category; Chilli also shows strong profitability.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09  • 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536192"/>
            <a:ext cx="5074920" cy="11155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764792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19072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84131"/>
                </a:solidFill>
                <a:latin typeface="Aptos"/>
              </a:rPr>
              <a:t>Kharif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2721"/>
                </a:solidFill>
                <a:latin typeface="Aptos"/>
              </a:rPr>
              <a:t>strongest overall seasonal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36192"/>
            <a:ext cx="5074920" cy="11155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00800" y="1764792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64792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719072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84131"/>
                </a:solidFill>
                <a:latin typeface="Aptos"/>
              </a:rPr>
              <a:t>Zaid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03120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2721"/>
                </a:solidFill>
                <a:latin typeface="Aptos"/>
              </a:rPr>
              <a:t>weakest profitability + lowest positive-profit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62656"/>
            <a:ext cx="5074920" cy="11155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3191256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191256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145536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84131"/>
                </a:solidFill>
                <a:latin typeface="Aptos"/>
              </a:rPr>
              <a:t>Drip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29584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2721"/>
                </a:solidFill>
                <a:latin typeface="Aptos"/>
              </a:rPr>
              <a:t>highest median yield among four irrigation methods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62656"/>
            <a:ext cx="5074920" cy="11155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0800" y="3191256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191256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45536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84131"/>
                </a:solidFill>
                <a:latin typeface="Aptos"/>
              </a:rPr>
              <a:t>Sugarcane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529584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2721"/>
                </a:solidFill>
                <a:latin typeface="Aptos"/>
              </a:rPr>
              <a:t>strongest high-yield / high-profit crop category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7288" y="4389120"/>
            <a:ext cx="5074920" cy="111556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30168" y="4617720"/>
            <a:ext cx="502920" cy="502920"/>
          </a:xfrm>
          <a:prstGeom prst="ellipse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30168" y="4617720"/>
            <a:ext cx="50292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C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4572000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184131"/>
                </a:solidFill>
                <a:latin typeface="Aptos"/>
              </a:rPr>
              <a:t>Yield + Water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956048"/>
            <a:ext cx="3886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B2721"/>
                </a:solidFill>
                <a:latin typeface="Aptos"/>
              </a:rPr>
              <a:t>positively associated with profit in this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1078992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0" i="1">
                <a:solidFill>
                  <a:srgbClr val="687068"/>
                </a:solidFill>
                <a:latin typeface="Aptos"/>
              </a:rPr>
              <a:t>The story is consistent: season, resource use and crop choice separate the stronger and weaker outcomes in this dataset.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10  • 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Limitations +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554480"/>
            <a:ext cx="5166360" cy="4407408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43484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CDE0D0"/>
                </a:solidFill>
                <a:latin typeface="Aptos"/>
              </a:rPr>
              <a:t>CURRENT — WHAT THE ANALYSIS CAN SAY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606040"/>
            <a:ext cx="329184" cy="329184"/>
          </a:xfrm>
          <a:prstGeom prst="ellipse">
            <a:avLst/>
          </a:prstGeom>
          <a:solidFill>
            <a:srgbClr val="41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329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C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587752"/>
            <a:ext cx="3840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C"/>
                </a:solidFill>
                <a:latin typeface="Aptos"/>
              </a:rPr>
              <a:t>Current analysis is descriptive.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410712"/>
            <a:ext cx="329184" cy="329184"/>
          </a:xfrm>
          <a:prstGeom prst="ellipse">
            <a:avLst/>
          </a:prstGeom>
          <a:solidFill>
            <a:srgbClr val="41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410712"/>
            <a:ext cx="329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392424"/>
            <a:ext cx="3840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C"/>
                </a:solidFill>
                <a:latin typeface="Aptos"/>
              </a:rPr>
              <a:t>Dataset does not establish causality.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215384"/>
            <a:ext cx="329184" cy="329184"/>
          </a:xfrm>
          <a:prstGeom prst="ellipse">
            <a:avLst/>
          </a:prstGeom>
          <a:solidFill>
            <a:srgbClr val="416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15384"/>
            <a:ext cx="329184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C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197096"/>
            <a:ext cx="38404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C"/>
                </a:solidFill>
                <a:latin typeface="Aptos"/>
              </a:rPr>
              <a:t>Findings should be validated with real farm-level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5330952" cy="4407408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874519"/>
            <a:ext cx="237744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4B7453"/>
                </a:solidFill>
                <a:latin typeface="Aptos"/>
              </a:rPr>
              <a:t>NEXT GENERATION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28816" y="256032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487168"/>
            <a:ext cx="4178807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Add year / month time dimension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310896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4848" y="3035808"/>
            <a:ext cx="4178807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Interactive dashboard</a:t>
            </a:r>
          </a:p>
        </p:txBody>
      </p:sp>
      <p:sp>
        <p:nvSpPr>
          <p:cNvPr id="24" name="Oval 23"/>
          <p:cNvSpPr/>
          <p:nvPr/>
        </p:nvSpPr>
        <p:spPr>
          <a:xfrm>
            <a:off x="6528816" y="365760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84848" y="3584448"/>
            <a:ext cx="4178807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Regression / ML prediction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420624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84848" y="4133087"/>
            <a:ext cx="4178807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Weather forecasts + market-price data</a:t>
            </a:r>
          </a:p>
        </p:txBody>
      </p:sp>
      <p:sp>
        <p:nvSpPr>
          <p:cNvPr id="28" name="Oval 27"/>
          <p:cNvSpPr/>
          <p:nvPr/>
        </p:nvSpPr>
        <p:spPr>
          <a:xfrm>
            <a:off x="6528816" y="4754880"/>
            <a:ext cx="128016" cy="128016"/>
          </a:xfrm>
          <a:prstGeom prst="ellipse">
            <a:avLst/>
          </a:prstGeom>
          <a:solidFill>
            <a:srgbClr val="4B7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84848" y="4681728"/>
            <a:ext cx="4178807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Deeper crop profitability investigation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59552"/>
            <a:ext cx="45720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1">
                <a:solidFill>
                  <a:srgbClr val="184131"/>
                </a:solidFill>
                <a:latin typeface="Aptos"/>
              </a:rPr>
              <a:t>what happened?  →  what is likely to happen?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11  • 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Project /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508760"/>
            <a:ext cx="676656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300" b="1" i="0">
                <a:solidFill>
                  <a:srgbClr val="184131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57984"/>
            <a:ext cx="2743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2721"/>
                </a:solidFill>
                <a:latin typeface="Aptos"/>
              </a:rPr>
              <a:t>Ranadeep 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4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687068"/>
                </a:solidFill>
                <a:latin typeface="Aptos"/>
              </a:rPr>
              <a:t>Future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62072"/>
            <a:ext cx="49377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687068"/>
                </a:solidFill>
                <a:latin typeface="Aptos"/>
              </a:rPr>
              <a:t>AICTE STU ID: STU6a5f732ab94b61784640298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56432"/>
            <a:ext cx="7406640" cy="1417320"/>
          </a:xfrm>
          <a:prstGeom prst="round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730752"/>
            <a:ext cx="1920240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CADFCD"/>
                </a:solidFill>
                <a:latin typeface="Aptos"/>
              </a:rP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96512"/>
            <a:ext cx="67208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C"/>
                </a:solidFill>
                <a:latin typeface="Aptos"/>
              </a:rPr>
              <a:t>github.com/rondoesntwannacode/Seasonal-Agriculture-Performance-Analysis</a:t>
            </a:r>
          </a:p>
        </p:txBody>
      </p:sp>
      <p:pic>
        <p:nvPicPr>
          <p:cNvPr id="14" name="Picture 13" descr="github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828800"/>
            <a:ext cx="2331720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23960" y="4279392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4B7453"/>
                </a:solidFill>
                <a:latin typeface="Aptos"/>
              </a:rPr>
              <a:t>SCAN TO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18288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Project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41264"/>
            <a:ext cx="43891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B2721"/>
                </a:solidFill>
                <a:latin typeface="Aptos"/>
              </a:rPr>
              <a:t>Analysis • visualization • project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4B7453"/>
                </a:solidFill>
                <a:latin typeface="Aptos"/>
              </a:rPr>
              <a:t>12  •  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51560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84131"/>
                </a:solidFill>
                <a:latin typeface="Aptos"/>
              </a:rPr>
              <a:t>VOIS Course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 i="0">
                <a:solidFill>
                  <a:srgbClr val="687068"/>
                </a:solidFill>
                <a:latin typeface="Aptos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25296"/>
            <a:ext cx="11000232" cy="0"/>
          </a:xfrm>
          <a:prstGeom prst="line">
            <a:avLst/>
          </a:prstGeom>
          <a:ln w="12700">
            <a:solidFill>
              <a:srgbClr val="D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05840" y="1572768"/>
            <a:ext cx="10149840" cy="4343400"/>
          </a:xfrm>
          <a:prstGeom prst="roundRect">
            <a:avLst/>
          </a:prstGeom>
          <a:solidFill>
            <a:srgbClr val="FFFFFC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25880" y="1901952"/>
            <a:ext cx="9509760" cy="3675887"/>
          </a:xfrm>
          <a:prstGeom prst="roundRect">
            <a:avLst/>
          </a:prstGeom>
          <a:solidFill>
            <a:srgbClr val="F8F6EF"/>
          </a:solidFill>
          <a:ln>
            <a:solidFill>
              <a:srgbClr val="D5D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2761488"/>
            <a:ext cx="516636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184131"/>
                </a:solidFill>
                <a:latin typeface="Aptos"/>
              </a:rPr>
              <a:t>CERTIFICATE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310128"/>
            <a:ext cx="7726679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B2721"/>
                </a:solidFill>
                <a:latin typeface="Aptos"/>
              </a:rPr>
              <a:t>Official VOIS Data Visualization course-completion certificate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950208"/>
            <a:ext cx="7955279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687068"/>
                </a:solidFill>
                <a:latin typeface="Aptos"/>
              </a:rPr>
              <a:t>PLACEHOLDER — INSERT THE OFFICIAL CERTIFICATE IMAGE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53328"/>
            <a:ext cx="29260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687068"/>
                </a:solidFill>
                <a:latin typeface="Aptos"/>
              </a:rPr>
              <a:t>Course: Data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59436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87068"/>
                </a:solidFill>
                <a:latin typeface="Aptos"/>
              </a:rPr>
              <a:t>Seasonal Agriculture Performance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92240"/>
            <a:ext cx="5193792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687068"/>
                </a:solidFill>
                <a:latin typeface="Aptos"/>
              </a:rPr>
              <a:t>VOIS AICTE BATCH 1  •  2026–27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074736-3E73-3028-373B-F076B632B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918" y="2059232"/>
            <a:ext cx="4723681" cy="3361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BED7C3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6858000" cy="6400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C"/>
                </a:solidFill>
                <a:latin typeface="Aptos"/>
              </a:rPr>
              <a:t>Season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304288"/>
            <a:ext cx="777240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DEE9DE"/>
                </a:solidFill>
                <a:latin typeface="Aptos"/>
              </a:rPr>
              <a:t>Kharif shows the strongest overall combination of yield,</a:t>
            </a:r>
            <a:br/>
            <a:r>
              <a:t>profitability and water efficiency in this dataset.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04088" y="3401568"/>
            <a:ext cx="5742432" cy="0"/>
          </a:xfrm>
          <a:prstGeom prst="line">
            <a:avLst/>
          </a:prstGeom>
          <a:ln w="17780">
            <a:solidFill>
              <a:srgbClr val="5C83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3794760"/>
            <a:ext cx="292608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C"/>
                </a:solidFill>
                <a:latin typeface="Aptos"/>
              </a:rPr>
              <a:t>Ranadeep 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4224528"/>
            <a:ext cx="402336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CDDECF"/>
                </a:solidFill>
                <a:latin typeface="Aptos"/>
              </a:rPr>
              <a:t>Future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4828032"/>
            <a:ext cx="7132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C1D7C4"/>
                </a:solidFill>
                <a:latin typeface="Aptos"/>
              </a:rPr>
              <a:t>github.com/rondoesntwannacode/Seasonal-Agriculture-Performance-Analysis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09560" y="3886200"/>
            <a:ext cx="3566160" cy="320040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09560" y="4160520"/>
            <a:ext cx="3566160" cy="320039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09560" y="4434840"/>
            <a:ext cx="3566160" cy="320039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4709160"/>
            <a:ext cx="3566160" cy="320040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9560" y="4983480"/>
            <a:ext cx="3566160" cy="320040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9560" y="5257800"/>
            <a:ext cx="3566160" cy="320040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60" y="5532120"/>
            <a:ext cx="3566160" cy="320039"/>
          </a:xfrm>
          <a:prstGeom prst="line">
            <a:avLst/>
          </a:prstGeom>
          <a:ln w="1270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55279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59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235440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19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5600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155680" y="3703320"/>
            <a:ext cx="164592" cy="2286000"/>
          </a:xfrm>
          <a:prstGeom prst="line">
            <a:avLst/>
          </a:prstGeom>
          <a:ln w="10160">
            <a:solidFill>
              <a:srgbClr val="335E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321040" y="4572000"/>
            <a:ext cx="109728" cy="109728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0" y="5074920"/>
            <a:ext cx="109728" cy="109728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29800" y="4315968"/>
            <a:ext cx="109728" cy="109728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52760" y="5349240"/>
            <a:ext cx="109728" cy="109728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1109960" y="4736592"/>
            <a:ext cx="109728" cy="109728"/>
          </a:xfrm>
          <a:prstGeom prst="ellipse">
            <a:avLst/>
          </a:prstGeom>
          <a:solidFill>
            <a:srgbClr val="8EA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5897880"/>
            <a:ext cx="51206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A6C3AA"/>
                </a:solidFill>
                <a:latin typeface="Aptos"/>
              </a:rPr>
              <a:t>AICTE STU ID: STU6a5f732ab94b61784640298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932</Words>
  <Application>Microsoft Office PowerPoint</Application>
  <PresentationFormat>Widescreen</PresentationFormat>
  <Paragraphs>288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Seasonal Agriculture Performance Analysis</dc:title>
  <dc:subject>Major Project — Data Analytics / Data Visualization</dc:subject>
  <dc:creator>Ranadeep Das</dc:creator>
  <cp:keywords/>
  <dc:description>Polished 14-slide major project presentation regenerated from the supplied presentation.</dc:description>
  <cp:lastModifiedBy>ranadeep9999@hotmail.com</cp:lastModifiedBy>
  <cp:revision>2</cp:revision>
  <dcterms:created xsi:type="dcterms:W3CDTF">2013-01-27T09:14:16Z</dcterms:created>
  <dcterms:modified xsi:type="dcterms:W3CDTF">2026-09-08T18:52:44Z</dcterms:modified>
  <cp:category/>
</cp:coreProperties>
</file>